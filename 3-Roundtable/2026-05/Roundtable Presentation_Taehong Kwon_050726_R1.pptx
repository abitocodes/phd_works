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583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5BD88F89-16E7-4D18-67EC-A0BAC694DF43}"/>
              </a:ext>
            </a:extLst>
          </p:cNvPr>
          <p:cNvGrpSpPr/>
          <p:nvPr/>
        </p:nvGrpSpPr>
        <p:grpSpPr>
          <a:xfrm>
            <a:off x="655320" y="1544134"/>
            <a:ext cx="10881360" cy="1229225"/>
            <a:chOff x="658368" y="749808"/>
            <a:chExt cx="10881360" cy="1229225"/>
          </a:xfrm>
        </p:grpSpPr>
        <p:sp>
          <p:nvSpPr>
            <p:cNvPr id="2" name="TextBox 1"/>
            <p:cNvSpPr txBox="1"/>
            <p:nvPr/>
          </p:nvSpPr>
          <p:spPr>
            <a:xfrm>
              <a:off x="658368" y="749808"/>
              <a:ext cx="10881360" cy="5909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>
              <a:spAutoFit/>
            </a:bodyPr>
            <a:lstStyle/>
            <a:p>
              <a:r>
                <a:rPr sz="3600" b="1">
                  <a:solidFill>
                    <a:srgbClr val="000000"/>
                  </a:solidFill>
                  <a:latin typeface="Malgun Gothic"/>
                </a:rPr>
                <a:t>Roundtable Presentation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658368" y="1572768"/>
              <a:ext cx="10853928" cy="4062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>
              <a:spAutoFit/>
            </a:bodyPr>
            <a:lstStyle/>
            <a:p>
              <a:r>
                <a:rPr sz="2400" b="1">
                  <a:solidFill>
                    <a:srgbClr val="000000"/>
                  </a:solidFill>
                  <a:latin typeface="Malgun Gothic"/>
                </a:rPr>
                <a:t>On-chain Wallet Reputation Scoring Using ERC-20 Approval</a:t>
              </a:r>
              <a:r>
                <a:rPr lang="en-US" sz="2400" b="1">
                  <a:solidFill>
                    <a:srgbClr val="000000"/>
                  </a:solidFill>
                  <a:latin typeface="Malgun Gothic"/>
                </a:rPr>
                <a:t> </a:t>
              </a:r>
              <a:r>
                <a:rPr sz="2400" b="1">
                  <a:solidFill>
                    <a:srgbClr val="000000"/>
                  </a:solidFill>
                  <a:latin typeface="Malgun Gothic"/>
                </a:rPr>
                <a:t>Relationships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CF68E100-E508-C508-40BA-FAF15F0A3742}"/>
              </a:ext>
            </a:extLst>
          </p:cNvPr>
          <p:cNvGrpSpPr/>
          <p:nvPr/>
        </p:nvGrpSpPr>
        <p:grpSpPr>
          <a:xfrm>
            <a:off x="824484" y="4867433"/>
            <a:ext cx="10515600" cy="752844"/>
            <a:chOff x="713232" y="3602181"/>
            <a:chExt cx="10515600" cy="752844"/>
          </a:xfrm>
        </p:grpSpPr>
        <p:sp>
          <p:nvSpPr>
            <p:cNvPr id="4" name="TextBox 3"/>
            <p:cNvSpPr txBox="1"/>
            <p:nvPr/>
          </p:nvSpPr>
          <p:spPr>
            <a:xfrm>
              <a:off x="713232" y="3602181"/>
              <a:ext cx="10515600" cy="3139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>
              <a:spAutoFit/>
            </a:bodyPr>
            <a:lstStyle/>
            <a:p>
              <a:pPr algn="ctr"/>
              <a:r>
                <a:rPr sz="1800" b="0">
                  <a:solidFill>
                    <a:srgbClr val="000000"/>
                  </a:solidFill>
                  <a:latin typeface="Malgun Gothic"/>
                </a:rPr>
                <a:t>Taehong Kwo</a:t>
              </a:r>
              <a:r>
                <a:rPr lang="en-US" sz="1800" b="0">
                  <a:solidFill>
                    <a:srgbClr val="000000"/>
                  </a:solidFill>
                  <a:latin typeface="Malgun Gothic"/>
                </a:rPr>
                <a:t>n</a:t>
              </a:r>
              <a:endParaRPr sz="1800" b="0">
                <a:solidFill>
                  <a:srgbClr val="000000"/>
                </a:solidFill>
                <a:latin typeface="Malgun Gothic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13232" y="4041093"/>
              <a:ext cx="10515600" cy="3139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>
              <a:spAutoFit/>
            </a:bodyPr>
            <a:lstStyle/>
            <a:p>
              <a:pPr algn="ctr"/>
              <a:r>
                <a:rPr sz="1800" b="0">
                  <a:solidFill>
                    <a:srgbClr val="000000"/>
                  </a:solidFill>
                  <a:latin typeface="Malgun Gothic"/>
                </a:rPr>
                <a:t>May 202</a:t>
              </a:r>
              <a:r>
                <a:rPr lang="en-US" sz="1800" b="0">
                  <a:solidFill>
                    <a:srgbClr val="000000"/>
                  </a:solidFill>
                  <a:latin typeface="Malgun Gothic"/>
                </a:rPr>
                <a:t>6</a:t>
              </a:r>
              <a:endParaRPr sz="1800" b="0">
                <a:solidFill>
                  <a:srgbClr val="000000"/>
                </a:solidFill>
                <a:latin typeface="Malgun Gothic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Brief Topic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Research focus and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403475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 b="1">
                <a:solidFill>
                  <a:srgbClr val="000000"/>
                </a:solidFill>
                <a:latin typeface="Malgun Gothic"/>
              </a:rPr>
              <a:t>Topic</a:t>
            </a:r>
            <a:r>
              <a:rPr>
                <a:solidFill>
                  <a:srgbClr val="000000"/>
                </a:solidFill>
                <a:latin typeface="Malgun Gothic"/>
              </a:rPr>
              <a:t>: </a:t>
            </a:r>
            <a:r>
              <a:rPr lang="en-US">
                <a:solidFill>
                  <a:srgbClr val="000000"/>
                </a:solidFill>
                <a:latin typeface="Malgun Gothic"/>
              </a:rPr>
              <a:t>a</a:t>
            </a:r>
            <a:r>
              <a:rPr>
                <a:solidFill>
                  <a:srgbClr val="000000"/>
                </a:solidFill>
                <a:latin typeface="Malgun Gothic"/>
              </a:rPr>
              <a:t>n on-chain wallet reputation scoring approach for decentralized finance (DeFi).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 b="1">
                <a:solidFill>
                  <a:srgbClr val="000000"/>
                </a:solidFill>
                <a:latin typeface="Malgun Gothic"/>
              </a:rPr>
              <a:t>Core idea</a:t>
            </a:r>
            <a:r>
              <a:rPr>
                <a:solidFill>
                  <a:srgbClr val="000000"/>
                </a:solidFill>
                <a:latin typeface="Malgun Gothic"/>
              </a:rPr>
              <a:t>: construct a directed, weighted endorsement graph from ERC-20 approve and permit relationships, then apply Weighted PageRank to estimate wallet reputation.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 b="1">
                <a:solidFill>
                  <a:srgbClr val="000000"/>
                </a:solidFill>
                <a:latin typeface="Malgun Gothic"/>
              </a:rPr>
              <a:t>Motivation</a:t>
            </a:r>
            <a:r>
              <a:rPr>
                <a:solidFill>
                  <a:srgbClr val="000000"/>
                </a:solidFill>
                <a:latin typeface="Malgun Gothic"/>
              </a:rPr>
              <a:t>: DeFi lending remains highly collateralized because wallets usually lack traditional identity, employment, or credit-history signals.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 b="1">
                <a:solidFill>
                  <a:srgbClr val="000000"/>
                </a:solidFill>
                <a:latin typeface="Malgun Gothic"/>
              </a:rPr>
              <a:t>Research gap</a:t>
            </a:r>
            <a:r>
              <a:rPr>
                <a:solidFill>
                  <a:srgbClr val="000000"/>
                </a:solidFill>
                <a:latin typeface="Malgun Gothic"/>
              </a:rPr>
              <a:t>: existing transaction-value or time-decay approaches can be computationally heavy and may not capture explicit permission-based trust relationships.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 b="1">
                <a:solidFill>
                  <a:srgbClr val="000000"/>
                </a:solidFill>
                <a:latin typeface="Malgun Gothic"/>
              </a:rPr>
              <a:t>Expected contribution</a:t>
            </a:r>
            <a:r>
              <a:rPr>
                <a:solidFill>
                  <a:srgbClr val="000000"/>
                </a:solidFill>
                <a:latin typeface="Malgun Gothic"/>
              </a:rPr>
              <a:t>: a scalable, trust-aligned reputation-scoring model that can be compared against transaction-based PageRank and AWP baselines.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Problem Statement and 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What problem the revised proposal now states more clearly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07592"/>
            <a:ext cx="10972800" cy="445025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Current graph-based on-chain reputation methods usually rely on historical transaction values to infer wallet relationships.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At Ethereum scale, this can require heavy parsing, aggregation, memory usage, and repeated computation when scores must be updated frequently.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Transaction volume alone may also be a noisy proxy for trust: high activity does not always mean reliable financial behavior.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ERC-20 approvals and permits represent a different signal: one wallet authorizes another wallet or contract to spend tokens, creating a permission-based relationship.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The revised proposal now frames </a:t>
            </a:r>
            <a:r>
              <a:rPr lang="en-US">
                <a:solidFill>
                  <a:srgbClr val="000000"/>
                </a:solidFill>
                <a:latin typeface="Malgun Gothic"/>
              </a:rPr>
              <a:t>ApprovalRank</a:t>
            </a:r>
            <a:r>
              <a:rPr>
                <a:solidFill>
                  <a:srgbClr val="000000"/>
                </a:solidFill>
                <a:latin typeface="Malgun Gothic"/>
              </a:rPr>
              <a:t> as a response to both predictive validity and computational efficiency concerns.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Research Questions and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Revised to align with background, problem, and expected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266867"/>
              </p:ext>
            </p:extLst>
          </p:nvPr>
        </p:nvGraphicFramePr>
        <p:xfrm>
          <a:off x="594360" y="1325880"/>
          <a:ext cx="110185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9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8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Malgun Gothic"/>
                        </a:rPr>
                        <a:t>Area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Malgun Gothic"/>
                        </a:rPr>
                        <a:t>Revised focus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Graph construction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Can approve/permit events be transformed into a sparse, directed, weighted endorsement graph suitable for PageRank?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Ranking comparison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How does </a:t>
                      </a:r>
                      <a:r>
                        <a:rPr lang="en-US" sz="1300" b="0">
                          <a:solidFill>
                            <a:srgbClr val="000000"/>
                          </a:solidFill>
                          <a:latin typeface="Malgun Gothic"/>
                        </a:rPr>
                        <a:t>ApprovalRank</a:t>
                      </a:r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 differ from Adaptive Weighted PageRank (AWP) and transaction-based PageRank in wallet ordering?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Risk prediction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Do </a:t>
                      </a:r>
                      <a:r>
                        <a:rPr lang="en-US" sz="1300" b="0">
                          <a:solidFill>
                            <a:srgbClr val="000000"/>
                          </a:solidFill>
                          <a:latin typeface="Malgun Gothic"/>
                        </a:rPr>
                        <a:t>ApprovalRank</a:t>
                      </a:r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 scores correlate with observable credit-risk outcomes such as default or liquidation events?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Computational efficiency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algun Gothic"/>
                        </a:rPr>
                        <a:t>Can approval-based scoring reduce processing complexity compared with transaction-value and time-decay methods?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Methodology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Current proposed research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07592"/>
            <a:ext cx="10972800" cy="445025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 b="1">
                <a:solidFill>
                  <a:srgbClr val="000000"/>
                </a:solidFill>
                <a:latin typeface="Malgun Gothic"/>
              </a:rPr>
              <a:t>Data source</a:t>
            </a:r>
            <a:r>
              <a:rPr>
                <a:solidFill>
                  <a:srgbClr val="000000"/>
                </a:solidFill>
                <a:latin typeface="Malgun Gothic"/>
              </a:rPr>
              <a:t>: public Ethereum event logs, including approve, permit, transfer, and lending-protocol outcome signals where applicable.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 b="1">
                <a:solidFill>
                  <a:srgbClr val="000000"/>
                </a:solidFill>
                <a:latin typeface="Malgun Gothic"/>
              </a:rPr>
              <a:t>Graph model</a:t>
            </a:r>
            <a:r>
              <a:rPr>
                <a:solidFill>
                  <a:srgbClr val="000000"/>
                </a:solidFill>
                <a:latin typeface="Malgun Gothic"/>
              </a:rPr>
              <a:t>: nodes are wallets/contracts; directed edges represent approval relationships; edge weights use the latest approved allowance amount.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 b="1">
                <a:solidFill>
                  <a:srgbClr val="000000"/>
                </a:solidFill>
                <a:latin typeface="Malgun Gothic"/>
              </a:rPr>
              <a:t>Algorithm</a:t>
            </a:r>
            <a:r>
              <a:rPr>
                <a:solidFill>
                  <a:srgbClr val="000000"/>
                </a:solidFill>
                <a:latin typeface="Malgun Gothic"/>
              </a:rPr>
              <a:t>: apply Weighted PageRank on the approval graph using standard damping factor d = 0.85.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 b="1">
                <a:solidFill>
                  <a:srgbClr val="000000"/>
                </a:solidFill>
                <a:latin typeface="Malgun Gothic"/>
              </a:rPr>
              <a:t>Baselines</a:t>
            </a:r>
            <a:r>
              <a:rPr>
                <a:solidFill>
                  <a:srgbClr val="000000"/>
                </a:solidFill>
                <a:latin typeface="Malgun Gothic"/>
              </a:rPr>
              <a:t>: compare against Adaptive Weighted PageRank (AWP) and transaction-based PageRank scoring.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 b="1">
                <a:solidFill>
                  <a:srgbClr val="000000"/>
                </a:solidFill>
                <a:latin typeface="Malgun Gothic"/>
              </a:rPr>
              <a:t>Evaluation</a:t>
            </a:r>
            <a:r>
              <a:rPr>
                <a:solidFill>
                  <a:srgbClr val="000000"/>
                </a:solidFill>
                <a:latin typeface="Malgun Gothic"/>
              </a:rPr>
              <a:t>: rank correlation metrics, predictive models such as logistic regression and random forest, and computational-efficiency measures.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Feedback Addressed: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27 professor comments were identified and addressed in the revised proposal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916364"/>
              </p:ext>
            </p:extLst>
          </p:nvPr>
        </p:nvGraphicFramePr>
        <p:xfrm>
          <a:off x="586740" y="1298448"/>
          <a:ext cx="110185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0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56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Malgun Gothic"/>
                        </a:rPr>
                        <a:t>Feedback 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Malgun Gothic"/>
                        </a:rPr>
                        <a:t>No. of comments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Malgun Gothic"/>
                        </a:rPr>
                        <a:t>Main revisions made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Introduction / Problem / RQ Alignment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Expanded background, rewrote the problem statement as a narrative, and connected objectives, research questions, and expected results.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Methodology / Evaluation Design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Defined variables, justified the damping factor and model choices, and clarified the validation strategy.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Literature Review / References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Added a comparison table, clarified key concepts, and strengthened citations for RiskProp, 3Jane, and Jane Score.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Results / Limitations / Ethics / Schedule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Linked expected results to objectives, refined limitations wording, aligned with UNISA ethics, and added publication milestones.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Major Progress 1: Coherence of the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Addressing feedback on introduction, problem statement, research questions, and expected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07592"/>
            <a:ext cx="10972800" cy="445025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Expanded the introduction to define core concepts and explain why on-chain wallet reputation matters for DeFi lending.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Rewrote the Research Problem from bullet points into a supported narrative with references and clearer logic.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Aligned research questions with the background problem and with the expected outcomes of the study.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Added linking language so the Expected Results section explicitly follows from the research objectives.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Result: the proposal now reads as a connected research argument rather than separate sections with weak transitions.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Major Progress 2: Methodology and Evaluation Justification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Addressing feedback on variables, assumptions, metrics, models, and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07592"/>
            <a:ext cx="10972800" cy="361926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Defined previously unclear mathematical variables in the PageRank formulation, including N+(u), x, and Wu-&gt;v.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Justified use of the standard damping factor d = 0.85 for comparability and stable PageRank behavior.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Explained why no additional time-weighting or value-decay is used beyond raw allowance weights.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Clarified the meaning of Spearman's rho and Kendall's tau in the ranking-comparison evaluation.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Justified logistic regression, random forest, and 5-fold cross-validation as practical and interpretable evaluation choices.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Major Progress 3: Literature Review Strengthening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Addressing feedback on missing concepts, classifications, citations, and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07592"/>
            <a:ext cx="10972800" cy="320376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Expanded the literature review to include computational-efficiency concerns raised in the problem statement.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Added a comparison/classification table covering highlights, specifics, and limitations of prior work.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Defined vanilla PageRank before discussing its limitations in on-chain reputation scoring.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Added missing references, including RiskProp and 3Jane documentation where relevant.</a:t>
            </a:r>
          </a:p>
          <a:p>
            <a:pPr marL="285750" indent="-285750" algn="just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Rechecked and rewrote the Jane Score discussion with more cautious language and explicit citation support.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Major Progress 4: Ethics, Limitations, and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Addressing feedback beyond the technical sections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07592"/>
            <a:ext cx="10972800" cy="35551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Aligned the ethics section with UNISA principles, including privacy, confidentiality, responsible data management, and ethics review where required.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Refined limitations language, for example changing absolute wording such as 'Any missing events' to the more accurate 'Some missing events'.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Added publication milestones and deliverables to the research schedule, as requested for thesis submission readiness.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Improved cross-references by replacing potentially fragile section-number references with descriptive references to earlier constructs and definitions.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Current Progress Since Previous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What has been completed in the revised proposal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07592"/>
            <a:ext cx="10972800" cy="403475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A revised proposal document has been prepared with tracked feedback responses preserved for review.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All 27 identified professor comments have been addressed in the revised version.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The strongest progress area is proposal quality and readiness: clearer background, stronger literature review, justified methodology, and better schedule alignment.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The proposal now presents </a:t>
            </a:r>
            <a:r>
              <a:rPr lang="en-US">
                <a:solidFill>
                  <a:srgbClr val="000000"/>
                </a:solidFill>
                <a:latin typeface="Malgun Gothic"/>
              </a:rPr>
              <a:t>ApprovalRank</a:t>
            </a:r>
            <a:r>
              <a:rPr>
                <a:solidFill>
                  <a:srgbClr val="000000"/>
                </a:solidFill>
                <a:latin typeface="Malgun Gothic"/>
              </a:rPr>
              <a:t> as both a graph-ranking contribution and a computational-efficiency contribution for DeFi risk assessment.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Next work moves from proposal refinement toward implementation planning, data extraction design, and empirical evaluation setup.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Remaining Challenges and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Items for supervisor guidance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07592"/>
            <a:ext cx="10972800" cy="445025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Data scope: selecting the initial Ethereum block range, DeFi protocol scope, and target ERC-20 assets for a manageable first experiment.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Risk labels: deciding the most defensible observable outcome label, such as default, liquidation, or health-factor deterioration in lending protocols.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Baselines: confirming the minimum set of baselines required for a convincing comparison against </a:t>
            </a:r>
            <a:r>
              <a:rPr lang="en-US">
                <a:solidFill>
                  <a:srgbClr val="000000"/>
                </a:solidFill>
                <a:latin typeface="Malgun Gothic"/>
              </a:rPr>
              <a:t>ApprovalRank</a:t>
            </a:r>
            <a:r>
              <a:rPr>
                <a:solidFill>
                  <a:srgbClr val="000000"/>
                </a:solidFill>
                <a:latin typeface="Malgun Gothic"/>
              </a:rPr>
              <a:t>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Publication plan: confirming whether one or two manuscript submissions should be targeted and at what stage of the research schedule.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Supervisor question: Are the revised objectives and evaluation plan now sufficiently aligned for proposal approval and implementation?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Planned work after this roundtable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092407"/>
              </p:ext>
            </p:extLst>
          </p:nvPr>
        </p:nvGraphicFramePr>
        <p:xfrm>
          <a:off x="640080" y="1325880"/>
          <a:ext cx="1092708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9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7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Malgun Gothic"/>
                        </a:rPr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Malgun Gothic"/>
                        </a:rPr>
                        <a:t>Planned activity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Malgun Gothic"/>
                        </a:rPr>
                        <a:t>Expected 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Finalize proposal text after roundtable feedback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Submission-ready revised proposal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Define data extraction pipeline for approve/permit/transfer and lending outcomes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Reproducible dataset specification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Implement </a:t>
                      </a:r>
                      <a:r>
                        <a:rPr lang="en-US" sz="1200" b="0">
                          <a:solidFill>
                            <a:srgbClr val="000000"/>
                          </a:solidFill>
                          <a:latin typeface="Malgun Gothic"/>
                        </a:rPr>
                        <a:t>ApprovalRank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 and baseline PageRank variants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Initial experimental code and score outputs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Run rank-correlation, prediction, and efficiency evaluations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Results tables for thesis and publication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Prepare first paper draft based on methodology and initial findings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algun Gothic"/>
                        </a:rPr>
                        <a:t>Accredited-journal submission milestone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Malgun Gothic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Malgun Gothic"/>
              </a:rPr>
              <a:t>Summary for the roundtable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881360" cy="32662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2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The revised proposal has addressed the previous feedback in a structured way.</a:t>
            </a:r>
          </a:p>
          <a:p>
            <a:pPr marL="342900" indent="-34290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2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The main progress is clearer research alignment, stronger literature grounding, better methodology justification, and improved ethics/schedule readiness.</a:t>
            </a:r>
          </a:p>
          <a:p>
            <a:pPr marL="342900" indent="-34290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2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The next phase is to move from proposal refinement to data extraction, implementation, and empirical evaluation.</a:t>
            </a:r>
          </a:p>
          <a:p>
            <a:pPr marL="342900" indent="-34290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200">
                <a:solidFill>
                  <a:srgbClr val="000000"/>
                </a:solidFill>
                <a:latin typeface="Malgun Gothic"/>
              </a:defRPr>
            </a:pPr>
            <a:r>
              <a:rPr>
                <a:solidFill>
                  <a:srgbClr val="000000"/>
                </a:solidFill>
                <a:latin typeface="Malgun Gothic"/>
              </a:rPr>
              <a:t>Thank you. I welcome questions and further guidance.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1336</Words>
  <Application>Microsoft Office PowerPoint</Application>
  <PresentationFormat>와이드스크린</PresentationFormat>
  <Paragraphs>121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권 태홍</cp:lastModifiedBy>
  <cp:revision>8</cp:revision>
  <dcterms:created xsi:type="dcterms:W3CDTF">2013-01-27T09:14:16Z</dcterms:created>
  <dcterms:modified xsi:type="dcterms:W3CDTF">2026-04-30T15:09:59Z</dcterms:modified>
  <cp:category/>
</cp:coreProperties>
</file>